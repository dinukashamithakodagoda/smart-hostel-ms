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1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4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9328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dinuka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3159" y="514350"/>
            <a:ext cx="6000750" cy="2228851"/>
          </a:xfrm>
        </p:spPr>
        <p:txBody>
          <a:bodyPr anchor="b">
            <a:normAutofit/>
          </a:bodyPr>
          <a:lstStyle>
            <a:lvl1pPr algn="l">
              <a:defRPr sz="36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3159" y="2882900"/>
            <a:ext cx="4800600" cy="1460500"/>
          </a:xfrm>
        </p:spPr>
        <p:txBody>
          <a:bodyPr anchor="t">
            <a:normAutofit/>
          </a:bodyPr>
          <a:lstStyle>
            <a:lvl1pPr marL="0" indent="0" algn="l">
              <a:buNone/>
              <a:defRPr sz="1575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6171009" y="6350"/>
            <a:ext cx="2857500" cy="28575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4581128" y="68659"/>
            <a:ext cx="4560491" cy="45604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5426869" y="171450"/>
            <a:ext cx="3714750" cy="37147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5501878" y="24209"/>
            <a:ext cx="3639742" cy="3639742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5884070" y="457201"/>
            <a:ext cx="3257549" cy="325754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420716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225206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1504950"/>
            <a:ext cx="6400801" cy="1711200"/>
          </a:xfrm>
        </p:spPr>
        <p:txBody>
          <a:bodyPr anchor="b">
            <a:normAutofit/>
          </a:bodyPr>
          <a:lstStyle>
            <a:lvl1pPr algn="l">
              <a:defRPr sz="27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60" y="3371850"/>
            <a:ext cx="6400800" cy="11239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467113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3159" y="514351"/>
            <a:ext cx="3703241" cy="271145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6100" y="514351"/>
            <a:ext cx="3700859" cy="271145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011545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061" y="514350"/>
            <a:ext cx="3487340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3159" y="952897"/>
            <a:ext cx="3703241" cy="2272904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9299" y="514350"/>
            <a:ext cx="3498851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54909" y="946546"/>
            <a:ext cx="3696891" cy="2272904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77846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00059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794542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3759" y="514350"/>
            <a:ext cx="2743200" cy="1028700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159" y="514350"/>
            <a:ext cx="4457701" cy="398145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3759" y="1657350"/>
            <a:ext cx="2743200" cy="1568450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702399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2109" y="1085850"/>
            <a:ext cx="4514850" cy="857250"/>
          </a:xfrm>
        </p:spPr>
        <p:txBody>
          <a:bodyPr anchor="b">
            <a:normAutofit/>
          </a:bodyPr>
          <a:lstStyle>
            <a:lvl1pPr algn="l">
              <a:defRPr sz="21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1759" y="685800"/>
            <a:ext cx="2460731" cy="3429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2109" y="2082800"/>
            <a:ext cx="4516041" cy="1536700"/>
          </a:xfrm>
        </p:spPr>
        <p:txBody>
          <a:bodyPr anchor="t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039529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14350" y="400050"/>
            <a:ext cx="8114109" cy="234315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85801" y="2882900"/>
            <a:ext cx="6228158" cy="3429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200"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99990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60" y="514350"/>
            <a:ext cx="7543800" cy="2057400"/>
          </a:xfrm>
        </p:spPr>
        <p:txBody>
          <a:bodyPr anchor="ctr">
            <a:normAutofit/>
          </a:bodyPr>
          <a:lstStyle>
            <a:lvl1pPr algn="l">
              <a:defRPr sz="24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3086100"/>
            <a:ext cx="6401991" cy="1409700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500716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514350"/>
            <a:ext cx="6858001" cy="2057400"/>
          </a:xfrm>
        </p:spPr>
        <p:txBody>
          <a:bodyPr anchor="ctr">
            <a:normAutofit/>
          </a:bodyPr>
          <a:lstStyle>
            <a:lvl1pPr algn="l">
              <a:defRPr sz="24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84659" y="2571750"/>
            <a:ext cx="6400800" cy="28575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60" y="3225801"/>
            <a:ext cx="6400800" cy="1263649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398859" y="60916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4059" y="207645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1569053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2571750"/>
            <a:ext cx="6400800" cy="1273050"/>
          </a:xfrm>
        </p:spPr>
        <p:txBody>
          <a:bodyPr anchor="b">
            <a:normAutofit/>
          </a:bodyPr>
          <a:lstStyle>
            <a:lvl1pPr algn="l">
              <a:defRPr sz="24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8" y="3849736"/>
            <a:ext cx="6401993" cy="645300"/>
          </a:xfrm>
        </p:spPr>
        <p:txBody>
          <a:bodyPr anchor="t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34635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514350"/>
            <a:ext cx="6858000" cy="2057400"/>
          </a:xfrm>
        </p:spPr>
        <p:txBody>
          <a:bodyPr anchor="ctr">
            <a:normAutofit/>
          </a:bodyPr>
          <a:lstStyle>
            <a:lvl1pPr algn="l">
              <a:defRPr sz="24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3159" y="2946400"/>
            <a:ext cx="6400801" cy="787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8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3733800"/>
            <a:ext cx="6400801" cy="76200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398859" y="60916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4059" y="207645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7872214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60" y="514350"/>
            <a:ext cx="7543800" cy="20574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3159" y="2946401"/>
            <a:ext cx="6400800" cy="6286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8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3575049"/>
            <a:ext cx="6400801" cy="9207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742271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858289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3909" y="514350"/>
            <a:ext cx="1543050" cy="3429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350" y="514350"/>
            <a:ext cx="5867400" cy="398145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1326018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9419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905227" y="2222500"/>
            <a:ext cx="2236394" cy="2406650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3159" y="3365499"/>
            <a:ext cx="6400800" cy="11303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514351"/>
            <a:ext cx="6400800" cy="2711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8309" y="4629150"/>
            <a:ext cx="1200150" cy="27384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75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3159" y="4629150"/>
            <a:ext cx="5657850" cy="27384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75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2400" y="4183857"/>
            <a:ext cx="856684" cy="50244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4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86933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43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5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3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9001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2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1572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15001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7B83"/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0A7B83">
              <a:alpha val="20000"/>
            </a:srgbClr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017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 smtClean="0">
                <a:solidFill>
                  <a:srgbClr val="9EC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Trincomalee campus, Eastern </a:t>
            </a:r>
            <a:r>
              <a:rPr lang="en-US" sz="1000" dirty="0">
                <a:solidFill>
                  <a:srgbClr val="9EC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University, Sri Lanka  ·  Faculty of Applied Science  ·  Department of Computer Science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Integrated Smart Hostel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System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3200400" y="2743200"/>
            <a:ext cx="2743200" cy="36576"/>
          </a:xfrm>
          <a:prstGeom prst="rect">
            <a:avLst/>
          </a:prstGeom>
          <a:solidFill>
            <a:srgbClr val="0A7B83"/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31136" y="292608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 smtClean="0">
                <a:solidFill>
                  <a:srgbClr val="0A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51376" y="292608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Dinuka Shamitha Kodagoda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31136" y="338328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A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 No.: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51376" y="338328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smtClean="0">
                <a:solidFill>
                  <a:srgbClr val="C9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EUSL/TC/IS/2020/COM/105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31136" y="384048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 smtClean="0">
                <a:solidFill>
                  <a:srgbClr val="0A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No.: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51376" y="384048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 smtClean="0">
                <a:solidFill>
                  <a:srgbClr val="C9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20/COM/463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31136" y="429768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 smtClean="0">
                <a:solidFill>
                  <a:srgbClr val="0A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51376" y="429768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C9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 in Computer Science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7B83">
              <a:alpha val="15000"/>
            </a:srgbClr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 Introduction &amp; Background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7B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69507" y="1061184"/>
            <a:ext cx="3931920" cy="37851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 facilities traditionally rely on manual, paper-based processes</a:t>
            </a:r>
            <a:endParaRPr lang="en-US" sz="1400" b="1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Lankan residential institutions manage hundreds to thousands of students</a:t>
            </a:r>
            <a:endParaRPr lang="en-US" sz="1400" b="1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span attendance, food services, maintenance &amp; communications</a:t>
            </a:r>
            <a:endParaRPr lang="en-US" sz="1400" b="1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of hostel systems in developing countries remain fragmented &amp; disconnected</a:t>
            </a:r>
            <a:endParaRPr lang="en-US" sz="1400" b="1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of centralised systems leads to inefficiency, data loss &amp; poor decisions</a:t>
            </a:r>
            <a:endParaRPr lang="en-US" sz="1400" b="1" dirty="0"/>
          </a:p>
        </p:txBody>
      </p:sp>
      <p:sp>
        <p:nvSpPr>
          <p:cNvPr id="6" name="Shape 4"/>
          <p:cNvSpPr/>
          <p:nvPr/>
        </p:nvSpPr>
        <p:spPr>
          <a:xfrm>
            <a:off x="4663440" y="1005840"/>
            <a:ext cx="4114800" cy="3840480"/>
          </a:xfrm>
          <a:prstGeom prst="roundRect">
            <a:avLst>
              <a:gd name="adj" fmla="val 2381"/>
            </a:avLst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0" y="1143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System Provides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00600" y="1600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Role-based dashboards 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00600" y="202996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Integrated attendance management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00600" y="245973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🍽️  Digital canteen ordering system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00600" y="288950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📣  Complaint tracking &amp; resolution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00600" y="331927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Multi-channel notification system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00600" y="37490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Task &amp; maintenance management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00600" y="417880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Notice board &amp; announcements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 Problem Statement &amp; Research Gap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1887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⏱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158191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7B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892808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marking is time-consuming, error-prone &amp; difficult to audit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105156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1887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🍽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337560" y="158191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7B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Canteen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1892808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digital ordering system — inefficiency and waste in food service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0" y="105156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11887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263640" y="158191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7B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Complaints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1892808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complaints not systematically tracked; no automatic notifications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92608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4320" y="30632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11480" y="345643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7B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3767328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updates cannot reach users via multiple channels; missed alerts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0" y="292608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00400" y="30632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337560" y="345643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7B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Management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37560" y="3767328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tasks lack tracking &amp; automated notification for assignments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26480" y="292608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26480" y="30632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263640" y="345643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7B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Silos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63640" y="3767328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scattered across disconnected systems; no data-driven decisions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4736592"/>
            <a:ext cx="8595360" cy="320040"/>
          </a:xfrm>
          <a:prstGeom prst="roundRect">
            <a:avLst>
              <a:gd name="adj" fmla="val 14286"/>
            </a:avLst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73659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Gap: No existing system in Sri Lanka provides a fully integrated, role-based hostel management platform with multi-channel notifications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 Research Aim &amp; 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03713" y="1159609"/>
            <a:ext cx="3766402" cy="3901826"/>
          </a:xfrm>
          <a:prstGeom prst="roundRect">
            <a:avLst>
              <a:gd name="adj" fmla="val 8163"/>
            </a:avLst>
          </a:prstGeom>
          <a:solidFill>
            <a:srgbClr val="0A7B83"/>
          </a:solidFill>
          <a:ln w="12700">
            <a:solidFill>
              <a:srgbClr val="0A7B83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70390" y="1056537"/>
            <a:ext cx="8165236" cy="898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Aim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80346" y="1972616"/>
            <a:ext cx="3366621" cy="27047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develop a comprehensive web-based Smart Hostel Management System that integrates attendance, canteen, complaint handling, task management, and notice distribution into a single role-based platform.</a:t>
            </a:r>
            <a:endParaRPr lang="en-US" sz="2000" b="1" dirty="0"/>
          </a:p>
        </p:txBody>
      </p:sp>
      <p:sp>
        <p:nvSpPr>
          <p:cNvPr id="7" name="Text 5"/>
          <p:cNvSpPr/>
          <p:nvPr/>
        </p:nvSpPr>
        <p:spPr>
          <a:xfrm rot="16200000">
            <a:off x="1688684" y="1743463"/>
            <a:ext cx="5757702" cy="293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Secondary Objectives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830694" y="964692"/>
            <a:ext cx="4114800" cy="521208"/>
          </a:xfrm>
          <a:prstGeom prst="roundRect">
            <a:avLst>
              <a:gd name="adj" fmla="val 8772"/>
            </a:avLst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67854" y="1024128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Design flexible Role-Based Access Control (RBAC) for 6 user types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30694" y="1563624"/>
            <a:ext cx="4114800" cy="521208"/>
          </a:xfrm>
          <a:prstGeom prst="roundRect">
            <a:avLst>
              <a:gd name="adj" fmla="val 8772"/>
            </a:avLst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67854" y="1636776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Create customised dashboards tailored to each stakeholder role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30694" y="2176272"/>
            <a:ext cx="4114800" cy="521208"/>
          </a:xfrm>
          <a:prstGeom prst="roundRect">
            <a:avLst>
              <a:gd name="adj" fmla="val 8772"/>
            </a:avLst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67854" y="2249424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Implement real-time data processing &amp; analytics for decision-making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30694" y="2788920"/>
            <a:ext cx="4114800" cy="521208"/>
          </a:xfrm>
          <a:prstGeom prst="roundRect">
            <a:avLst>
              <a:gd name="adj" fmla="val 8772"/>
            </a:avLst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67854" y="2862072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Develop multi-channel notifications: email, in-app alerts, real-time updates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30694" y="3427892"/>
            <a:ext cx="4114800" cy="521208"/>
          </a:xfrm>
          <a:prstGeom prst="roundRect">
            <a:avLst>
              <a:gd name="adj" fmla="val 8772"/>
            </a:avLst>
          </a:prstGeom>
          <a:solidFill>
            <a:srgbClr val="E8F4F5"/>
          </a:solidFill>
          <a:ln w="12700">
            <a:solidFill>
              <a:srgbClr val="A7D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496472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Automate email notifications for complaints, tasks, orders &amp; notices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30694" y="4021500"/>
            <a:ext cx="4114800" cy="521208"/>
          </a:xfrm>
          <a:prstGeom prst="roundRect">
            <a:avLst>
              <a:gd name="adj" fmla="val 8772"/>
            </a:avLst>
          </a:prstGeom>
          <a:solidFill>
            <a:srgbClr val="E8F4F5"/>
          </a:solidFill>
          <a:ln w="12700">
            <a:solidFill>
              <a:srgbClr val="A7D5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4140952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Ensure security via JWT authentication and bcrypt password hashing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30694" y="4589651"/>
            <a:ext cx="4114800" cy="521208"/>
          </a:xfrm>
          <a:prstGeom prst="roundRect">
            <a:avLst>
              <a:gd name="adj" fmla="val 8772"/>
            </a:avLst>
          </a:prstGeom>
          <a:solidFill>
            <a:srgbClr val="E8F4F5"/>
          </a:solidFill>
          <a:ln w="12700">
            <a:solidFill>
              <a:srgbClr val="A7D5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44994" y="4677387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Validate through User Acceptance Testing (UAT) and notification delivery checks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  Methodology &amp; Proposed Solution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48640" y="22585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Layer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08152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Layer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63440" y="14904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63440" y="22037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663440" y="29169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663440" y="36301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65760" y="4754880"/>
            <a:ext cx="8412480" cy="292608"/>
          </a:xfrm>
          <a:prstGeom prst="roundRect">
            <a:avLst>
              <a:gd name="adj" fmla="val 12500"/>
            </a:avLst>
          </a:prstGeom>
          <a:solidFill>
            <a:srgbClr val="0A7B83">
              <a:alpha val="15000"/>
            </a:srgbClr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75488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A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via HTTP/HTTPS  ·  Git version control  ·  ESLint + Jest + TypeScript for quality assurance</a:t>
            </a:r>
            <a:endParaRPr lang="en-US" sz="950" dirty="0"/>
          </a:p>
        </p:txBody>
      </p:sp>
      <p:sp>
        <p:nvSpPr>
          <p:cNvPr id="41" name="TextBox 40"/>
          <p:cNvSpPr txBox="1"/>
          <p:nvPr/>
        </p:nvSpPr>
        <p:spPr>
          <a:xfrm>
            <a:off x="5706320" y="1171588"/>
            <a:ext cx="3356427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Proposed </a:t>
            </a:r>
            <a:r>
              <a:rPr lang="en-US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Solutions</a:t>
            </a:r>
          </a:p>
          <a:p>
            <a:endParaRPr lang="en-US" dirty="0" smtClean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b="1" dirty="0" smtClean="0">
                <a:solidFill>
                  <a:schemeClr val="bg1"/>
                </a:solidFill>
              </a:rPr>
              <a:t>Role-Based </a:t>
            </a:r>
            <a:r>
              <a:rPr lang="en-US" sz="1600" b="1" dirty="0">
                <a:solidFill>
                  <a:schemeClr val="bg1"/>
                </a:solidFill>
              </a:rPr>
              <a:t>Access </a:t>
            </a:r>
            <a:r>
              <a:rPr lang="en-US" sz="1600" b="1" dirty="0" smtClean="0">
                <a:solidFill>
                  <a:schemeClr val="bg1"/>
                </a:solidFill>
              </a:rPr>
              <a:t>Control</a:t>
            </a:r>
          </a:p>
          <a:p>
            <a:pPr marL="342900" indent="-342900">
              <a:buAutoNum type="arabicPeriod"/>
            </a:pPr>
            <a:r>
              <a:rPr lang="en-US" sz="1600" b="1" dirty="0" smtClean="0">
                <a:solidFill>
                  <a:schemeClr val="bg1"/>
                </a:solidFill>
              </a:rPr>
              <a:t>Digital </a:t>
            </a:r>
            <a:r>
              <a:rPr lang="en-US" sz="1600" b="1" dirty="0">
                <a:solidFill>
                  <a:schemeClr val="bg1"/>
                </a:solidFill>
              </a:rPr>
              <a:t>Attendance </a:t>
            </a:r>
            <a:r>
              <a:rPr lang="en-US" sz="1600" b="1" dirty="0" smtClean="0">
                <a:solidFill>
                  <a:schemeClr val="bg1"/>
                </a:solidFill>
              </a:rPr>
              <a:t>Management</a:t>
            </a:r>
          </a:p>
          <a:p>
            <a:pPr marL="342900" indent="-342900">
              <a:buAutoNum type="arabicPeriod"/>
            </a:pPr>
            <a:r>
              <a:rPr lang="en-US" sz="1600" b="1" dirty="0" smtClean="0">
                <a:solidFill>
                  <a:schemeClr val="bg1"/>
                </a:solidFill>
              </a:rPr>
              <a:t>Online </a:t>
            </a:r>
            <a:r>
              <a:rPr lang="en-US" sz="1600" b="1" dirty="0">
                <a:solidFill>
                  <a:schemeClr val="bg1"/>
                </a:solidFill>
              </a:rPr>
              <a:t>Canteen </a:t>
            </a:r>
            <a:r>
              <a:rPr lang="en-US" sz="1600" b="1" dirty="0" smtClean="0">
                <a:solidFill>
                  <a:schemeClr val="bg1"/>
                </a:solidFill>
              </a:rPr>
              <a:t>Management</a:t>
            </a:r>
          </a:p>
          <a:p>
            <a:pPr marL="342900" indent="-342900">
              <a:buAutoNum type="arabicPeriod"/>
            </a:pPr>
            <a:r>
              <a:rPr lang="en-US" sz="1600" b="1" dirty="0" smtClean="0">
                <a:solidFill>
                  <a:schemeClr val="bg1"/>
                </a:solidFill>
              </a:rPr>
              <a:t>Complaint </a:t>
            </a:r>
            <a:r>
              <a:rPr lang="en-US" sz="1600" b="1" dirty="0">
                <a:solidFill>
                  <a:schemeClr val="bg1"/>
                </a:solidFill>
              </a:rPr>
              <a:t>and Issue </a:t>
            </a:r>
            <a:r>
              <a:rPr lang="en-US" sz="1600" b="1" dirty="0" smtClean="0">
                <a:solidFill>
                  <a:schemeClr val="bg1"/>
                </a:solidFill>
              </a:rPr>
              <a:t>Management</a:t>
            </a:r>
          </a:p>
          <a:p>
            <a:pPr marL="342900" indent="-342900">
              <a:buAutoNum type="arabicPeriod"/>
            </a:pPr>
            <a:r>
              <a:rPr lang="en-US" sz="1600" b="1" dirty="0" smtClean="0">
                <a:solidFill>
                  <a:schemeClr val="bg1"/>
                </a:solidFill>
              </a:rPr>
              <a:t>Task </a:t>
            </a:r>
            <a:r>
              <a:rPr lang="en-US" sz="1600" b="1" dirty="0">
                <a:solidFill>
                  <a:schemeClr val="bg1"/>
                </a:solidFill>
              </a:rPr>
              <a:t>Management </a:t>
            </a:r>
            <a:r>
              <a:rPr lang="en-US" sz="1600" b="1" dirty="0" smtClean="0">
                <a:solidFill>
                  <a:schemeClr val="bg1"/>
                </a:solidFill>
              </a:rPr>
              <a:t>System</a:t>
            </a:r>
          </a:p>
          <a:p>
            <a:pPr marL="342900" indent="-342900">
              <a:buAutoNum type="arabicPeriod"/>
            </a:pPr>
            <a:r>
              <a:rPr lang="en-US" sz="1600" b="1" dirty="0" smtClean="0">
                <a:solidFill>
                  <a:schemeClr val="bg1"/>
                </a:solidFill>
              </a:rPr>
              <a:t>Notice </a:t>
            </a:r>
            <a:r>
              <a:rPr lang="en-US" sz="1600" b="1" dirty="0">
                <a:solidFill>
                  <a:schemeClr val="bg1"/>
                </a:solidFill>
              </a:rPr>
              <a:t>and Notification </a:t>
            </a:r>
            <a:r>
              <a:rPr lang="en-US" sz="1600" b="1" dirty="0" smtClean="0">
                <a:solidFill>
                  <a:schemeClr val="bg1"/>
                </a:solidFill>
              </a:rPr>
              <a:t>System</a:t>
            </a:r>
          </a:p>
          <a:p>
            <a:pPr marL="342900" indent="-342900">
              <a:buAutoNum type="arabicPeriod"/>
            </a:pPr>
            <a:r>
              <a:rPr lang="en-US" sz="1600" b="1" dirty="0" smtClean="0">
                <a:solidFill>
                  <a:schemeClr val="bg1"/>
                </a:solidFill>
              </a:rPr>
              <a:t>Centralized </a:t>
            </a:r>
            <a:r>
              <a:rPr lang="en-US" sz="1600" b="1" dirty="0">
                <a:solidFill>
                  <a:schemeClr val="bg1"/>
                </a:solidFill>
              </a:rPr>
              <a:t>Database</a:t>
            </a:r>
            <a:endParaRPr lang="en-US" sz="16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905" y="1119831"/>
            <a:ext cx="5298720" cy="359421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488317" y="839253"/>
            <a:ext cx="1702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Methodology</a:t>
            </a:r>
            <a:endParaRPr 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  System Design &amp; Implementation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87552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smtClean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</a:t>
            </a:r>
            <a:r>
              <a:rPr lang="en-US" sz="14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&amp; Dashboards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4864" cy="365760"/>
          </a:xfrm>
          <a:prstGeom prst="rect">
            <a:avLst/>
          </a:prstGeom>
          <a:solidFill>
            <a:srgbClr val="0A7B83"/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1417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20240" y="1417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Attendance, canteen orders, complaints, notices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965960"/>
            <a:ext cx="54864" cy="365760"/>
          </a:xfrm>
          <a:prstGeom prst="rect">
            <a:avLst/>
          </a:prstGeom>
          <a:solidFill>
            <a:srgbClr val="0A7B83"/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1965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Warden: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20240" y="1965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verify, complaint resolution, tasks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514600"/>
            <a:ext cx="54864" cy="365760"/>
          </a:xfrm>
          <a:prstGeom prst="rect">
            <a:avLst/>
          </a:prstGeom>
          <a:solidFill>
            <a:srgbClr val="0A7B83"/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2514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Sub-Warden: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20240" y="2514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Delegated responsibilities &amp; tasks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063240"/>
            <a:ext cx="54864" cy="365760"/>
          </a:xfrm>
          <a:prstGeom prst="rect">
            <a:avLst/>
          </a:prstGeom>
          <a:solidFill>
            <a:srgbClr val="0A7B83"/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30632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Canteen Manager: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20240" y="30632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management &amp; order processing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611880"/>
            <a:ext cx="54864" cy="365760"/>
          </a:xfrm>
          <a:prstGeom prst="rect">
            <a:avLst/>
          </a:prstGeom>
          <a:solidFill>
            <a:srgbClr val="0A7B83"/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" y="36118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Staff: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920240" y="36118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assignments &amp; status updates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4160520"/>
            <a:ext cx="54864" cy="365760"/>
          </a:xfrm>
          <a:prstGeom prst="rect">
            <a:avLst/>
          </a:prstGeom>
          <a:solidFill>
            <a:srgbClr val="0A7B83"/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" y="4160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 err="1" smtClean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Marshel</a:t>
            </a:r>
            <a:r>
              <a:rPr lang="en-US" sz="1100" b="1" dirty="0" smtClean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100" b="1" dirty="0" err="1" smtClean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</a:t>
            </a:r>
            <a:r>
              <a:rPr lang="en-US" sz="1100" b="1" dirty="0" smtClean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920240" y="4160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access &amp; user management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46320" y="98755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System Modules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846320" y="1371600"/>
            <a:ext cx="3931920" cy="457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140817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Attendance System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83480" y="1609344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marking + warden verification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46320" y="1920240"/>
            <a:ext cx="3931920" cy="457200"/>
          </a:xfrm>
          <a:prstGeom prst="roundRect">
            <a:avLst>
              <a:gd name="adj" fmla="val 10000"/>
            </a:avLst>
          </a:prstGeom>
          <a:solidFill>
            <a:srgbClr val="E8F4F5"/>
          </a:solidFill>
          <a:ln w="12700">
            <a:solidFill>
              <a:srgbClr val="A7D5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195681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🍽️  Canteen Module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83480" y="2157984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menu, order placement &amp; tracking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46320" y="2468880"/>
            <a:ext cx="3931920" cy="457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250545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📣  Complaint System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83480" y="2706624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Submission, tracking + auto email alerts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46320" y="3017520"/>
            <a:ext cx="3931920" cy="457200"/>
          </a:xfrm>
          <a:prstGeom prst="roundRect">
            <a:avLst>
              <a:gd name="adj" fmla="val 10000"/>
            </a:avLst>
          </a:prstGeom>
          <a:solidFill>
            <a:srgbClr val="E8F4F5"/>
          </a:solidFill>
          <a:ln w="12700">
            <a:solidFill>
              <a:srgbClr val="A7D5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83480" y="305409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Notification Engine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83480" y="3255264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(Nodemailer) + Socket.io real-time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846320" y="3566160"/>
            <a:ext cx="3931920" cy="457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83480" y="360273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Task Management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983480" y="3803904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Assignment, priority tracking &amp; alerts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46320" y="4114800"/>
            <a:ext cx="3931920" cy="457200"/>
          </a:xfrm>
          <a:prstGeom prst="roundRect">
            <a:avLst>
              <a:gd name="adj" fmla="val 10000"/>
            </a:avLst>
          </a:prstGeom>
          <a:solidFill>
            <a:srgbClr val="E8F4F5"/>
          </a:solidFill>
          <a:ln w="12700">
            <a:solidFill>
              <a:srgbClr val="A7D5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83480" y="415137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Notice Board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983480" y="4352544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Creation, distribution &amp; email blasts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65760" y="4709160"/>
            <a:ext cx="8412480" cy="347472"/>
          </a:xfrm>
          <a:prstGeom prst="roundRect">
            <a:avLst>
              <a:gd name="adj" fmla="val 13158"/>
            </a:avLst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7091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EC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bcrypt password hashing  ·  JWT auth (24h expiry)  ·  HTTPS/TLS  ·  Input validation  ·  CORS configuration  ·  RBAC middleware</a:t>
            </a:r>
            <a:endParaRPr lang="en-US" sz="11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  Results &amp; Evaluation</a:t>
            </a:r>
            <a:endParaRPr lang="en-US" sz="2600" dirty="0"/>
          </a:p>
        </p:txBody>
      </p:sp>
      <p:sp>
        <p:nvSpPr>
          <p:cNvPr id="33" name="Rounded Rectangle 32"/>
          <p:cNvSpPr/>
          <p:nvPr/>
        </p:nvSpPr>
        <p:spPr>
          <a:xfrm>
            <a:off x="4946064" y="1273172"/>
            <a:ext cx="3414532" cy="7755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✅ Attendance Management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09730" y="3671082"/>
            <a:ext cx="3414532" cy="7755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✅ Task &amp; Notice Management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09730" y="1277310"/>
            <a:ext cx="3414532" cy="7755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✅ User Authentication &amp; Authorization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946064" y="2474906"/>
            <a:ext cx="3414532" cy="7755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✅ Complaint Management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4946064" y="3715601"/>
            <a:ext cx="3414532" cy="7755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✅ Notification System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8872" y="2474196"/>
            <a:ext cx="3414532" cy="7755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✅ Canteen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476735" y="3940751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🔔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4484" y="2713836"/>
            <a:ext cx="4154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📣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7826608" y="1516097"/>
            <a:ext cx="4683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r>
              <a:rPr lang="en-US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3705006" y="3906169"/>
            <a:ext cx="4683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📋 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3402930" y="2732203"/>
            <a:ext cx="5854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🍽</a:t>
            </a:r>
            <a:r>
              <a:rPr lang="en-US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️ 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178133" y="1397152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🔒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  Conclusion &amp; Future Work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023360" cy="310896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-254643"/>
            <a:ext cx="3749040" cy="6748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✅ Successfully developed an integrated Smart Hostel Management System.</a:t>
            </a:r>
          </a:p>
          <a:p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✅ Implemented secure RBAC, JWT authentication, and role-based dashboards.</a:t>
            </a:r>
          </a:p>
          <a:p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✅ Reduced manual work through automation of hostel operations.</a:t>
            </a:r>
          </a:p>
          <a:p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✅ Improved communication with real-time and email notifications.</a:t>
            </a:r>
          </a:p>
          <a:p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✅ Enhanced transparency through attendance, complaint, and task tracking.</a:t>
            </a:r>
          </a:p>
          <a:p>
            <a:r>
              <a:rPr lang="en-US" sz="1200" b="1" dirty="0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✅ </a:t>
            </a: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Scalable MERN-stack architecture supports future expansion.</a:t>
            </a:r>
          </a:p>
          <a:p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✅ Improved overall hostel management efficiency.</a:t>
            </a:r>
          </a:p>
        </p:txBody>
      </p:sp>
      <p:sp>
        <p:nvSpPr>
          <p:cNvPr id="17" name="Shape 15"/>
          <p:cNvSpPr/>
          <p:nvPr/>
        </p:nvSpPr>
        <p:spPr>
          <a:xfrm>
            <a:off x="365760" y="4663440"/>
            <a:ext cx="4023360" cy="384048"/>
          </a:xfrm>
          <a:prstGeom prst="roundRect">
            <a:avLst>
              <a:gd name="adj" fmla="val 11905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66344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Limitations: Web-only (no mobile app) · No payment gateway · Basic analytics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663440" y="10058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63440" y="1417320"/>
            <a:ext cx="4114800" cy="484632"/>
          </a:xfrm>
          <a:prstGeom prst="roundRect">
            <a:avLst>
              <a:gd name="adj" fmla="val 11321"/>
            </a:avLst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00600" y="145389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Mobile Application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0600" y="1682496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EC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&amp; Android with QR attendance &amp; push notifications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63440" y="1984248"/>
            <a:ext cx="4114800" cy="484632"/>
          </a:xfrm>
          <a:prstGeom prst="roundRect">
            <a:avLst>
              <a:gd name="adj" fmla="val 11321"/>
            </a:avLst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00600" y="202082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&amp; ML Integration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00600" y="2249424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EC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complaint categorisation, predictive maintenance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2551176"/>
            <a:ext cx="4114800" cy="484632"/>
          </a:xfrm>
          <a:prstGeom prst="roundRect">
            <a:avLst>
              <a:gd name="adj" fmla="val 11321"/>
            </a:avLst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00600" y="258775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Advanced Analytics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00600" y="281635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EC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insights, custom reports &amp; visualisations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3118104"/>
            <a:ext cx="4114800" cy="484632"/>
          </a:xfrm>
          <a:prstGeom prst="roundRect">
            <a:avLst>
              <a:gd name="adj" fmla="val 11321"/>
            </a:avLst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00600" y="315468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Payment Gateway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00600" y="338328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EC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canteen payments &amp; financial tracking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3685032"/>
            <a:ext cx="4114800" cy="484632"/>
          </a:xfrm>
          <a:prstGeom prst="roundRect">
            <a:avLst>
              <a:gd name="adj" fmla="val 11321"/>
            </a:avLst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00600" y="372160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Cloud Deployment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00600" y="395020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EC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AWS/Azure + Docker/Kubernetes containerisation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63440" y="4251960"/>
            <a:ext cx="4114800" cy="484632"/>
          </a:xfrm>
          <a:prstGeom prst="roundRect">
            <a:avLst>
              <a:gd name="adj" fmla="val 11321"/>
            </a:avLst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800600" y="428853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IoT &amp; Blockchain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00600" y="4517136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EC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monitoring + secure immutable records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7B83"/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A7B83"/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731520"/>
            <a:ext cx="5486400" cy="1463040"/>
          </a:xfrm>
          <a:prstGeom prst="roundRect">
            <a:avLst>
              <a:gd name="adj" fmla="val 7500"/>
            </a:avLst>
          </a:prstGeom>
          <a:solidFill>
            <a:srgbClr val="0A7B83">
              <a:alpha val="15000"/>
            </a:srgbClr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0" y="8229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828800" y="1554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 flipV="1">
            <a:off x="717630" y="2508957"/>
            <a:ext cx="7708740" cy="45720"/>
          </a:xfrm>
          <a:prstGeom prst="rect">
            <a:avLst/>
          </a:prstGeom>
          <a:solidFill>
            <a:srgbClr val="0A7B83"/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0" y="414223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286000" y="414223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9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github.com/Dinukashamithakodagoda/Smart-Hostel-MS</a:t>
            </a:r>
            <a:endParaRPr lang="en-US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1772695" y="2941903"/>
            <a:ext cx="499527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 smtClean="0"/>
              <a:t>K.T.Dinuka</a:t>
            </a:r>
            <a:r>
              <a:rPr lang="en-US" sz="1600" dirty="0" smtClean="0"/>
              <a:t> </a:t>
            </a:r>
            <a:r>
              <a:rPr lang="en-US" sz="1600" dirty="0" err="1" smtClean="0"/>
              <a:t>Shamitha</a:t>
            </a:r>
            <a:r>
              <a:rPr lang="en-US" sz="1600" dirty="0" smtClean="0"/>
              <a:t> </a:t>
            </a:r>
            <a:r>
              <a:rPr lang="en-US" sz="1600" dirty="0" err="1" smtClean="0"/>
              <a:t>Kodagoda</a:t>
            </a:r>
            <a:endParaRPr lang="en-US" sz="1600" dirty="0" smtClean="0"/>
          </a:p>
          <a:p>
            <a:pPr algn="ctr"/>
            <a:r>
              <a:rPr lang="en-US" sz="1600" dirty="0" smtClean="0"/>
              <a:t>20 COM  463</a:t>
            </a:r>
          </a:p>
          <a:p>
            <a:pPr algn="ctr"/>
            <a:r>
              <a:rPr lang="en-US" sz="1600" dirty="0" smtClean="0"/>
              <a:t>Department of Computer science</a:t>
            </a:r>
          </a:p>
          <a:p>
            <a:pPr algn="ctr"/>
            <a:r>
              <a:rPr lang="en-US" sz="1600" dirty="0" smtClean="0"/>
              <a:t>Trincomalee campus, Eastern University,Sri Lanka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1003</TotalTime>
  <Words>777</Words>
  <Application>Microsoft Office PowerPoint</Application>
  <PresentationFormat>On-screen Show (16:9)</PresentationFormat>
  <Paragraphs>157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 Black</vt:lpstr>
      <vt:lpstr>Calibri</vt:lpstr>
      <vt:lpstr>Cambria</vt:lpstr>
      <vt:lpstr>Century Gothic</vt:lpstr>
      <vt:lpstr>Wingdings 3</vt:lpstr>
      <vt:lpstr>Slice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Integrated Smart Hostel Management System</dc:title>
  <dc:subject>PptxGenJS Presentation</dc:subject>
  <dc:creator>Dinuka Shamitha Kodagoda</dc:creator>
  <cp:lastModifiedBy>hp</cp:lastModifiedBy>
  <cp:revision>20</cp:revision>
  <dcterms:created xsi:type="dcterms:W3CDTF">2026-06-15T18:08:29Z</dcterms:created>
  <dcterms:modified xsi:type="dcterms:W3CDTF">2026-06-18T00:55:10Z</dcterms:modified>
</cp:coreProperties>
</file>